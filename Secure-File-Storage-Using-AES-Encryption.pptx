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Ovo" charset="1" panose="02020502070400060406"/>
      <p:regular r:id="rId17"/>
    </p:embeddedFont>
    <p:embeddedFont>
      <p:font typeface="Canva Sans Bold" charset="1" panose="020B0803030501040103"/>
      <p:regular r:id="rId18"/>
    </p:embeddedFont>
    <p:embeddedFont>
      <p:font typeface="Canva Sans" charset="1" panose="020B0503030501040103"/>
      <p:regular r:id="rId19"/>
    </p:embeddedFont>
    <p:embeddedFont>
      <p:font typeface="Times New Roman MT" charset="1" panose="02030502070405020303"/>
      <p:regular r:id="rId20"/>
    </p:embeddedFont>
    <p:embeddedFont>
      <p:font typeface="Times New Roman MT Bold" charset="1" panose="02030802070405020303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744198" y="0"/>
            <a:ext cx="5543802" cy="10452455"/>
            <a:chOff x="0" y="0"/>
            <a:chExt cx="1460096" cy="275291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0096" cy="2752910"/>
            </a:xfrm>
            <a:custGeom>
              <a:avLst/>
              <a:gdLst/>
              <a:ahLst/>
              <a:cxnLst/>
              <a:rect r="r" b="b" t="t" l="l"/>
              <a:pathLst>
                <a:path h="2752910" w="1460096">
                  <a:moveTo>
                    <a:pt x="0" y="0"/>
                  </a:moveTo>
                  <a:lnTo>
                    <a:pt x="1460096" y="0"/>
                  </a:lnTo>
                  <a:lnTo>
                    <a:pt x="1460096" y="2752910"/>
                  </a:lnTo>
                  <a:lnTo>
                    <a:pt x="0" y="2752910"/>
                  </a:lnTo>
                  <a:close/>
                </a:path>
              </a:pathLst>
            </a:custGeom>
            <a:solidFill>
              <a:srgbClr val="202B3D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460096" cy="279101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567439" y="3353613"/>
            <a:ext cx="11020139" cy="2635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>
                <a:solidFill>
                  <a:srgbClr val="202B3D"/>
                </a:solidFill>
                <a:latin typeface="Ovo"/>
                <a:ea typeface="Ovo"/>
                <a:cs typeface="Ovo"/>
                <a:sym typeface="Ovo"/>
              </a:rPr>
              <a:t>Secure</a:t>
            </a:r>
            <a:r>
              <a:rPr lang="en-US" sz="5000">
                <a:solidFill>
                  <a:srgbClr val="202B3D"/>
                </a:solidFill>
                <a:latin typeface="Ovo"/>
                <a:ea typeface="Ovo"/>
                <a:cs typeface="Ovo"/>
                <a:sym typeface="Ovo"/>
              </a:rPr>
              <a:t> File Storage U</a:t>
            </a:r>
            <a:r>
              <a:rPr lang="en-US" sz="5000">
                <a:solidFill>
                  <a:srgbClr val="202B3D"/>
                </a:solidFill>
                <a:latin typeface="Ovo"/>
                <a:ea typeface="Ovo"/>
                <a:cs typeface="Ovo"/>
                <a:sym typeface="Ovo"/>
              </a:rPr>
              <a:t>sing AES Encryption</a:t>
            </a:r>
          </a:p>
          <a:p>
            <a:pPr algn="ctr">
              <a:lnSpc>
                <a:spcPts val="7000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567439" y="6047623"/>
            <a:ext cx="11020139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202B3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Prepared by :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202B3D"/>
                </a:solidFill>
                <a:latin typeface="Canva Sans"/>
                <a:ea typeface="Canva Sans"/>
                <a:cs typeface="Canva Sans"/>
                <a:sym typeface="Canva Sans"/>
              </a:rPr>
              <a:t>Razan Alothaim</a:t>
            </a:r>
          </a:p>
          <a:p>
            <a:pPr algn="l">
              <a:lnSpc>
                <a:spcPts val="4200"/>
              </a:lnSpc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800000">
            <a:off x="10442520" y="0"/>
            <a:ext cx="7845480" cy="10287000"/>
            <a:chOff x="0" y="0"/>
            <a:chExt cx="2066299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66299" cy="2709333"/>
            </a:xfrm>
            <a:custGeom>
              <a:avLst/>
              <a:gdLst/>
              <a:ahLst/>
              <a:cxnLst/>
              <a:rect r="r" b="b" t="t" l="l"/>
              <a:pathLst>
                <a:path h="2709333" w="2066299">
                  <a:moveTo>
                    <a:pt x="0" y="0"/>
                  </a:moveTo>
                  <a:lnTo>
                    <a:pt x="2066299" y="0"/>
                  </a:lnTo>
                  <a:lnTo>
                    <a:pt x="2066299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202B3D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066299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5" id="5"/>
          <p:cNvSpPr/>
          <p:nvPr/>
        </p:nvSpPr>
        <p:spPr>
          <a:xfrm>
            <a:off x="45534" y="1673696"/>
            <a:ext cx="8761308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" id="6"/>
          <p:cNvSpPr txBox="true"/>
          <p:nvPr/>
        </p:nvSpPr>
        <p:spPr>
          <a:xfrm rot="0">
            <a:off x="474780" y="292194"/>
            <a:ext cx="8669220" cy="1562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202B3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Introduction</a:t>
            </a:r>
          </a:p>
          <a:p>
            <a:pPr algn="l">
              <a:lnSpc>
                <a:spcPts val="6299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474780" y="2244389"/>
            <a:ext cx="10396986" cy="40271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54"/>
              </a:lnSpc>
            </a:pP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s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ecur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app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lic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ation for encrypting and decrypting files with user authentication,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fil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 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upl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oad,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AES encryption, and simple file retrieval.</a:t>
            </a:r>
          </a:p>
          <a:p>
            <a:pPr algn="l">
              <a:lnSpc>
                <a:spcPts val="8975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800000">
            <a:off x="10442520" y="0"/>
            <a:ext cx="7845480" cy="10287000"/>
            <a:chOff x="0" y="0"/>
            <a:chExt cx="2066299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66299" cy="2709333"/>
            </a:xfrm>
            <a:custGeom>
              <a:avLst/>
              <a:gdLst/>
              <a:ahLst/>
              <a:cxnLst/>
              <a:rect r="r" b="b" t="t" l="l"/>
              <a:pathLst>
                <a:path h="2709333" w="2066299">
                  <a:moveTo>
                    <a:pt x="0" y="0"/>
                  </a:moveTo>
                  <a:lnTo>
                    <a:pt x="2066299" y="0"/>
                  </a:lnTo>
                  <a:lnTo>
                    <a:pt x="2066299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202B3D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066299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5" id="5"/>
          <p:cNvSpPr/>
          <p:nvPr/>
        </p:nvSpPr>
        <p:spPr>
          <a:xfrm>
            <a:off x="45534" y="1673696"/>
            <a:ext cx="8761308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" id="6"/>
          <p:cNvSpPr txBox="true"/>
          <p:nvPr/>
        </p:nvSpPr>
        <p:spPr>
          <a:xfrm rot="0">
            <a:off x="474780" y="528168"/>
            <a:ext cx="8669220" cy="1562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202B3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</a:t>
            </a:r>
            <a:r>
              <a:rPr lang="en-US" sz="4500" b="true">
                <a:solidFill>
                  <a:srgbClr val="202B3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nctions</a:t>
            </a:r>
          </a:p>
          <a:p>
            <a:pPr algn="l">
              <a:lnSpc>
                <a:spcPts val="6299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198745" y="1929757"/>
            <a:ext cx="10243776" cy="6998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54"/>
              </a:lnSpc>
            </a:pPr>
            <a:r>
              <a:rPr lang="en-US" b="true" sz="3500">
                <a:solidFill>
                  <a:srgbClr val="54545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M</a:t>
            </a:r>
            <a:r>
              <a:rPr lang="en-US" b="true" sz="3500">
                <a:solidFill>
                  <a:srgbClr val="54545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ain Fu</a:t>
            </a:r>
            <a:r>
              <a:rPr lang="en-US" b="true" sz="3500">
                <a:solidFill>
                  <a:srgbClr val="54545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nctio</a:t>
            </a:r>
            <a:r>
              <a:rPr lang="en-US" b="true" sz="3500">
                <a:solidFill>
                  <a:srgbClr val="54545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ns:</a:t>
            </a:r>
          </a:p>
          <a:p>
            <a:pPr algn="l" marL="755651" indent="-377825" lvl="1">
              <a:lnSpc>
                <a:spcPts val="7854"/>
              </a:lnSpc>
              <a:buFont typeface="Arial"/>
              <a:buChar char="•"/>
            </a:pP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Us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 In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terface</a:t>
            </a:r>
          </a:p>
          <a:p>
            <a:pPr algn="l" marL="755651" indent="-377825" lvl="1">
              <a:lnSpc>
                <a:spcPts val="7854"/>
              </a:lnSpc>
              <a:buFont typeface="Arial"/>
              <a:buChar char="•"/>
            </a:pP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User Authentication</a:t>
            </a:r>
          </a:p>
          <a:p>
            <a:pPr algn="l" marL="755651" indent="-377825" lvl="1">
              <a:lnSpc>
                <a:spcPts val="7854"/>
              </a:lnSpc>
              <a:buFont typeface="Arial"/>
              <a:buChar char="•"/>
            </a:pP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File Upload</a:t>
            </a:r>
          </a:p>
          <a:p>
            <a:pPr algn="l" marL="755651" indent="-377825" lvl="1">
              <a:lnSpc>
                <a:spcPts val="7854"/>
              </a:lnSpc>
              <a:buFont typeface="Arial"/>
              <a:buChar char="•"/>
            </a:pP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AES 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Encryption</a:t>
            </a:r>
          </a:p>
          <a:p>
            <a:pPr algn="l" marL="755651" indent="-377825" lvl="1">
              <a:lnSpc>
                <a:spcPts val="7854"/>
              </a:lnSpc>
              <a:buFont typeface="Arial"/>
              <a:buChar char="•"/>
            </a:pP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Retrieval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and Decryption</a:t>
            </a:r>
          </a:p>
          <a:p>
            <a:pPr algn="l">
              <a:lnSpc>
                <a:spcPts val="8975"/>
              </a:lnSpc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800000">
            <a:off x="13391680" y="0"/>
            <a:ext cx="4896320" cy="10287000"/>
            <a:chOff x="0" y="0"/>
            <a:chExt cx="1289566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89566" cy="2709333"/>
            </a:xfrm>
            <a:custGeom>
              <a:avLst/>
              <a:gdLst/>
              <a:ahLst/>
              <a:cxnLst/>
              <a:rect r="r" b="b" t="t" l="l"/>
              <a:pathLst>
                <a:path h="2709333" w="1289566">
                  <a:moveTo>
                    <a:pt x="0" y="0"/>
                  </a:moveTo>
                  <a:lnTo>
                    <a:pt x="1289566" y="0"/>
                  </a:lnTo>
                  <a:lnTo>
                    <a:pt x="128956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202B3D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289566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5" id="5"/>
          <p:cNvSpPr/>
          <p:nvPr/>
        </p:nvSpPr>
        <p:spPr>
          <a:xfrm>
            <a:off x="45534" y="1673696"/>
            <a:ext cx="8761308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474780" y="5463747"/>
            <a:ext cx="4086490" cy="4683930"/>
          </a:xfrm>
          <a:custGeom>
            <a:avLst/>
            <a:gdLst/>
            <a:ahLst/>
            <a:cxnLst/>
            <a:rect r="r" b="b" t="t" l="l"/>
            <a:pathLst>
              <a:path h="4683930" w="4086490">
                <a:moveTo>
                  <a:pt x="0" y="0"/>
                </a:moveTo>
                <a:lnTo>
                  <a:pt x="4086491" y="0"/>
                </a:lnTo>
                <a:lnTo>
                  <a:pt x="4086491" y="4683930"/>
                </a:lnTo>
                <a:lnTo>
                  <a:pt x="0" y="46839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</p:sp>
      <p:sp>
        <p:nvSpPr>
          <p:cNvPr name="TextBox 7" id="7"/>
          <p:cNvSpPr txBox="true"/>
          <p:nvPr/>
        </p:nvSpPr>
        <p:spPr>
          <a:xfrm rot="0">
            <a:off x="474780" y="488839"/>
            <a:ext cx="8669220" cy="3162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202B3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User </a:t>
            </a:r>
            <a:r>
              <a:rPr lang="en-US" sz="4500" b="true">
                <a:solidFill>
                  <a:srgbClr val="202B3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Interface</a:t>
            </a:r>
          </a:p>
          <a:p>
            <a:pPr algn="l">
              <a:lnSpc>
                <a:spcPts val="6299"/>
              </a:lnSpc>
            </a:pPr>
          </a:p>
          <a:p>
            <a:pPr algn="l">
              <a:lnSpc>
                <a:spcPts val="6299"/>
              </a:lnSpc>
            </a:pPr>
          </a:p>
          <a:p>
            <a:pPr algn="l">
              <a:lnSpc>
                <a:spcPts val="6299"/>
              </a:lnSpc>
            </a:pP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6481935" y="5394085"/>
            <a:ext cx="5324130" cy="4823253"/>
          </a:xfrm>
          <a:custGeom>
            <a:avLst/>
            <a:gdLst/>
            <a:ahLst/>
            <a:cxnLst/>
            <a:rect r="r" b="b" t="t" l="l"/>
            <a:pathLst>
              <a:path h="4823253" w="5324130">
                <a:moveTo>
                  <a:pt x="0" y="0"/>
                </a:moveTo>
                <a:lnTo>
                  <a:pt x="5324130" y="0"/>
                </a:lnTo>
                <a:lnTo>
                  <a:pt x="5324130" y="4823253"/>
                </a:lnTo>
                <a:lnTo>
                  <a:pt x="0" y="48232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</p:sp>
      <p:sp>
        <p:nvSpPr>
          <p:cNvPr name="TextBox 9" id="9"/>
          <p:cNvSpPr txBox="true"/>
          <p:nvPr/>
        </p:nvSpPr>
        <p:spPr>
          <a:xfrm rot="0">
            <a:off x="45534" y="4559617"/>
            <a:ext cx="4334610" cy="1251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77240" indent="-388620" lvl="1">
              <a:lnSpc>
                <a:spcPts val="5040"/>
              </a:lnSpc>
              <a:buFont typeface="Arial"/>
              <a:buChar char="•"/>
            </a:pPr>
            <a:r>
              <a:rPr lang="en-US" b="true" sz="3600">
                <a:solidFill>
                  <a:srgbClr val="202B3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Dark Mode  </a:t>
            </a:r>
          </a:p>
          <a:p>
            <a:pPr algn="l">
              <a:lnSpc>
                <a:spcPts val="5040"/>
              </a:lnSpc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6471688" y="4409122"/>
            <a:ext cx="5133636" cy="1402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77240" indent="-388620" lvl="1">
              <a:lnSpc>
                <a:spcPts val="5040"/>
              </a:lnSpc>
              <a:buFont typeface="Arial"/>
              <a:buChar char="•"/>
            </a:pPr>
            <a:r>
              <a:rPr lang="en-US" b="true" sz="3600">
                <a:solidFill>
                  <a:srgbClr val="202B3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 </a:t>
            </a:r>
            <a:r>
              <a:rPr lang="en-US" b="true" sz="3600">
                <a:solidFill>
                  <a:srgbClr val="202B3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Light Mode.</a:t>
            </a:r>
          </a:p>
          <a:p>
            <a:pPr algn="l">
              <a:lnSpc>
                <a:spcPts val="6299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313590" y="1573514"/>
            <a:ext cx="17660820" cy="3569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54"/>
              </a:lnSpc>
            </a:pP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B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uilt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w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th Tkinter for simplicity and responsiveness.</a:t>
            </a:r>
          </a:p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Supports Dark Mode and</a:t>
            </a:r>
            <a:r>
              <a:rPr lang="en-US" sz="30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L</a:t>
            </a:r>
            <a:r>
              <a:rPr lang="en-US" sz="30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ight</a:t>
            </a:r>
            <a:r>
              <a:rPr lang="en-US" sz="30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Mode.</a:t>
            </a:r>
          </a:p>
          <a:p>
            <a:pPr algn="l">
              <a:lnSpc>
                <a:spcPts val="7854"/>
              </a:lnSpc>
            </a:pP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F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ull-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Screen display for better user experience.</a:t>
            </a:r>
          </a:p>
          <a:p>
            <a:pPr algn="l">
              <a:lnSpc>
                <a:spcPts val="8975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800000">
            <a:off x="10442520" y="0"/>
            <a:ext cx="7845480" cy="10287000"/>
            <a:chOff x="0" y="0"/>
            <a:chExt cx="2066299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66299" cy="2709333"/>
            </a:xfrm>
            <a:custGeom>
              <a:avLst/>
              <a:gdLst/>
              <a:ahLst/>
              <a:cxnLst/>
              <a:rect r="r" b="b" t="t" l="l"/>
              <a:pathLst>
                <a:path h="2709333" w="2066299">
                  <a:moveTo>
                    <a:pt x="0" y="0"/>
                  </a:moveTo>
                  <a:lnTo>
                    <a:pt x="2066299" y="0"/>
                  </a:lnTo>
                  <a:lnTo>
                    <a:pt x="2066299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202B3D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066299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5" id="5"/>
          <p:cNvSpPr/>
          <p:nvPr/>
        </p:nvSpPr>
        <p:spPr>
          <a:xfrm>
            <a:off x="45534" y="1673696"/>
            <a:ext cx="8761308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" id="6"/>
          <p:cNvSpPr txBox="true"/>
          <p:nvPr/>
        </p:nvSpPr>
        <p:spPr>
          <a:xfrm rot="0">
            <a:off x="474780" y="488839"/>
            <a:ext cx="8669220" cy="2362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202B3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User Authe</a:t>
            </a:r>
            <a:r>
              <a:rPr lang="en-US" sz="4500" b="true">
                <a:solidFill>
                  <a:srgbClr val="202B3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ntication</a:t>
            </a:r>
          </a:p>
          <a:p>
            <a:pPr algn="l">
              <a:lnSpc>
                <a:spcPts val="6299"/>
              </a:lnSpc>
            </a:pPr>
          </a:p>
          <a:p>
            <a:pPr algn="l">
              <a:lnSpc>
                <a:spcPts val="6299"/>
              </a:lnSpc>
            </a:pP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1143867" y="2358232"/>
            <a:ext cx="7144133" cy="5570535"/>
          </a:xfrm>
          <a:custGeom>
            <a:avLst/>
            <a:gdLst/>
            <a:ahLst/>
            <a:cxnLst/>
            <a:rect r="r" b="b" t="t" l="l"/>
            <a:pathLst>
              <a:path h="5570535" w="7144133">
                <a:moveTo>
                  <a:pt x="0" y="0"/>
                </a:moveTo>
                <a:lnTo>
                  <a:pt x="7144133" y="0"/>
                </a:lnTo>
                <a:lnTo>
                  <a:pt x="7144133" y="5570536"/>
                </a:lnTo>
                <a:lnTo>
                  <a:pt x="0" y="55705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474780" y="1495422"/>
            <a:ext cx="9711197" cy="56445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000"/>
              </a:lnSpc>
            </a:pP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Us</a:t>
            </a: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ers can Register and Login securely.</a:t>
            </a:r>
          </a:p>
          <a:p>
            <a:pPr algn="l">
              <a:lnSpc>
                <a:spcPts val="9000"/>
              </a:lnSpc>
            </a:pP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Passwords are hashed using SHA-256 before</a:t>
            </a: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be</a:t>
            </a: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ing</a:t>
            </a: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stored.</a:t>
            </a:r>
          </a:p>
          <a:p>
            <a:pPr algn="l">
              <a:lnSpc>
                <a:spcPts val="9000"/>
              </a:lnSpc>
            </a:pP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P</a:t>
            </a: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rotects against password leaks or exposure.</a:t>
            </a:r>
          </a:p>
          <a:p>
            <a:pPr algn="l">
              <a:lnSpc>
                <a:spcPts val="9000"/>
              </a:lnSpc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800000">
            <a:off x="10442520" y="0"/>
            <a:ext cx="7845480" cy="10287000"/>
            <a:chOff x="0" y="0"/>
            <a:chExt cx="2066299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66299" cy="2709333"/>
            </a:xfrm>
            <a:custGeom>
              <a:avLst/>
              <a:gdLst/>
              <a:ahLst/>
              <a:cxnLst/>
              <a:rect r="r" b="b" t="t" l="l"/>
              <a:pathLst>
                <a:path h="2709333" w="2066299">
                  <a:moveTo>
                    <a:pt x="0" y="0"/>
                  </a:moveTo>
                  <a:lnTo>
                    <a:pt x="2066299" y="0"/>
                  </a:lnTo>
                  <a:lnTo>
                    <a:pt x="2066299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202B3D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066299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5" id="5"/>
          <p:cNvSpPr/>
          <p:nvPr/>
        </p:nvSpPr>
        <p:spPr>
          <a:xfrm>
            <a:off x="45534" y="1673696"/>
            <a:ext cx="8761308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1120174" y="2313873"/>
            <a:ext cx="6613209" cy="6591876"/>
          </a:xfrm>
          <a:custGeom>
            <a:avLst/>
            <a:gdLst/>
            <a:ahLst/>
            <a:cxnLst/>
            <a:rect r="r" b="b" t="t" l="l"/>
            <a:pathLst>
              <a:path h="6591876" w="6613209">
                <a:moveTo>
                  <a:pt x="0" y="0"/>
                </a:moveTo>
                <a:lnTo>
                  <a:pt x="6613210" y="0"/>
                </a:lnTo>
                <a:lnTo>
                  <a:pt x="6613210" y="6591876"/>
                </a:lnTo>
                <a:lnTo>
                  <a:pt x="0" y="659187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474780" y="488839"/>
            <a:ext cx="8669220" cy="1562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202B3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File Uplo</a:t>
            </a:r>
            <a:r>
              <a:rPr lang="en-US" sz="4500" b="true">
                <a:solidFill>
                  <a:srgbClr val="202B3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ad</a:t>
            </a:r>
          </a:p>
          <a:p>
            <a:pPr algn="l">
              <a:lnSpc>
                <a:spcPts val="6299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474780" y="1527064"/>
            <a:ext cx="10645394" cy="45015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000"/>
              </a:lnSpc>
            </a:pP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Us</a:t>
            </a: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ers can easily select files from their computer.</a:t>
            </a:r>
          </a:p>
          <a:p>
            <a:pPr algn="l">
              <a:lnSpc>
                <a:spcPts val="9000"/>
              </a:lnSpc>
            </a:pP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Supports different</a:t>
            </a: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f</a:t>
            </a: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ile</a:t>
            </a: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types.</a:t>
            </a:r>
          </a:p>
          <a:p>
            <a:pPr algn="l">
              <a:lnSpc>
                <a:spcPts val="9000"/>
              </a:lnSpc>
            </a:pP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Upl</a:t>
            </a: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oaded file path is displayed in the application.</a:t>
            </a:r>
          </a:p>
          <a:p>
            <a:pPr algn="l">
              <a:lnSpc>
                <a:spcPts val="9000"/>
              </a:lnSpc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800000">
            <a:off x="10442520" y="0"/>
            <a:ext cx="7845480" cy="10287000"/>
            <a:chOff x="0" y="0"/>
            <a:chExt cx="2066299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66299" cy="2709333"/>
            </a:xfrm>
            <a:custGeom>
              <a:avLst/>
              <a:gdLst/>
              <a:ahLst/>
              <a:cxnLst/>
              <a:rect r="r" b="b" t="t" l="l"/>
              <a:pathLst>
                <a:path h="2709333" w="2066299">
                  <a:moveTo>
                    <a:pt x="0" y="0"/>
                  </a:moveTo>
                  <a:lnTo>
                    <a:pt x="2066299" y="0"/>
                  </a:lnTo>
                  <a:lnTo>
                    <a:pt x="2066299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202B3D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066299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5" id="5"/>
          <p:cNvSpPr/>
          <p:nvPr/>
        </p:nvSpPr>
        <p:spPr>
          <a:xfrm>
            <a:off x="45534" y="1673696"/>
            <a:ext cx="8761308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1390067" y="2189316"/>
            <a:ext cx="5950386" cy="6708075"/>
          </a:xfrm>
          <a:custGeom>
            <a:avLst/>
            <a:gdLst/>
            <a:ahLst/>
            <a:cxnLst/>
            <a:rect r="r" b="b" t="t" l="l"/>
            <a:pathLst>
              <a:path h="6708075" w="5950386">
                <a:moveTo>
                  <a:pt x="0" y="0"/>
                </a:moveTo>
                <a:lnTo>
                  <a:pt x="5950386" y="0"/>
                </a:lnTo>
                <a:lnTo>
                  <a:pt x="5950386" y="6708075"/>
                </a:lnTo>
                <a:lnTo>
                  <a:pt x="0" y="67080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474780" y="488839"/>
            <a:ext cx="8669220" cy="2362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202B3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AES Encryption</a:t>
            </a:r>
          </a:p>
          <a:p>
            <a:pPr algn="l">
              <a:lnSpc>
                <a:spcPts val="6299"/>
              </a:lnSpc>
            </a:pPr>
          </a:p>
          <a:p>
            <a:pPr algn="l">
              <a:lnSpc>
                <a:spcPts val="6299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474780" y="2346214"/>
            <a:ext cx="9307475" cy="66678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92"/>
              </a:lnSpc>
            </a:pP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Fil</a:t>
            </a: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es are encrypted using Fernet, which is based on AES encryption.</a:t>
            </a:r>
          </a:p>
          <a:p>
            <a:pPr algn="l">
              <a:lnSpc>
                <a:spcPts val="8892"/>
              </a:lnSpc>
            </a:pP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 secure</a:t>
            </a: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</a:t>
            </a: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encr</a:t>
            </a: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yption key is gener</a:t>
            </a: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ated and stored safely.</a:t>
            </a:r>
          </a:p>
          <a:p>
            <a:pPr algn="l">
              <a:lnSpc>
                <a:spcPts val="8892"/>
              </a:lnSpc>
            </a:pP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Ensures strong protection for user files.</a:t>
            </a:r>
          </a:p>
          <a:p>
            <a:pPr algn="l">
              <a:lnSpc>
                <a:spcPts val="8892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800000">
            <a:off x="13595435" y="0"/>
            <a:ext cx="4692565" cy="10287000"/>
            <a:chOff x="0" y="0"/>
            <a:chExt cx="1235902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35902" cy="2709333"/>
            </a:xfrm>
            <a:custGeom>
              <a:avLst/>
              <a:gdLst/>
              <a:ahLst/>
              <a:cxnLst/>
              <a:rect r="r" b="b" t="t" l="l"/>
              <a:pathLst>
                <a:path h="2709333" w="1235902">
                  <a:moveTo>
                    <a:pt x="0" y="0"/>
                  </a:moveTo>
                  <a:lnTo>
                    <a:pt x="1235902" y="0"/>
                  </a:lnTo>
                  <a:lnTo>
                    <a:pt x="123590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202B3D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235902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5" id="5"/>
          <p:cNvSpPr/>
          <p:nvPr/>
        </p:nvSpPr>
        <p:spPr>
          <a:xfrm>
            <a:off x="45534" y="1673696"/>
            <a:ext cx="8761308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474780" y="2851039"/>
            <a:ext cx="12465070" cy="5706899"/>
          </a:xfrm>
          <a:custGeom>
            <a:avLst/>
            <a:gdLst/>
            <a:ahLst/>
            <a:cxnLst/>
            <a:rect r="r" b="b" t="t" l="l"/>
            <a:pathLst>
              <a:path h="5706899" w="12465070">
                <a:moveTo>
                  <a:pt x="0" y="0"/>
                </a:moveTo>
                <a:lnTo>
                  <a:pt x="12465070" y="0"/>
                </a:lnTo>
                <a:lnTo>
                  <a:pt x="12465070" y="5706900"/>
                </a:lnTo>
                <a:lnTo>
                  <a:pt x="0" y="57069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474780" y="488839"/>
            <a:ext cx="8669220" cy="2362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202B3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AES Encryption</a:t>
            </a:r>
          </a:p>
          <a:p>
            <a:pPr algn="l">
              <a:lnSpc>
                <a:spcPts val="6299"/>
              </a:lnSpc>
            </a:pPr>
          </a:p>
          <a:p>
            <a:pPr algn="l">
              <a:lnSpc>
                <a:spcPts val="6299"/>
              </a:lnSpc>
            </a:pP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800000">
            <a:off x="10442520" y="0"/>
            <a:ext cx="7845480" cy="10287000"/>
            <a:chOff x="0" y="0"/>
            <a:chExt cx="2066299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66299" cy="2709333"/>
            </a:xfrm>
            <a:custGeom>
              <a:avLst/>
              <a:gdLst/>
              <a:ahLst/>
              <a:cxnLst/>
              <a:rect r="r" b="b" t="t" l="l"/>
              <a:pathLst>
                <a:path h="2709333" w="2066299">
                  <a:moveTo>
                    <a:pt x="0" y="0"/>
                  </a:moveTo>
                  <a:lnTo>
                    <a:pt x="2066299" y="0"/>
                  </a:lnTo>
                  <a:lnTo>
                    <a:pt x="2066299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202B3D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066299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5" id="5"/>
          <p:cNvSpPr/>
          <p:nvPr/>
        </p:nvSpPr>
        <p:spPr>
          <a:xfrm>
            <a:off x="45534" y="1673696"/>
            <a:ext cx="8761308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1227583" y="1704949"/>
            <a:ext cx="6275355" cy="6877101"/>
          </a:xfrm>
          <a:custGeom>
            <a:avLst/>
            <a:gdLst/>
            <a:ahLst/>
            <a:cxnLst/>
            <a:rect r="r" b="b" t="t" l="l"/>
            <a:pathLst>
              <a:path h="6877101" w="6275355">
                <a:moveTo>
                  <a:pt x="0" y="0"/>
                </a:moveTo>
                <a:lnTo>
                  <a:pt x="6275354" y="0"/>
                </a:lnTo>
                <a:lnTo>
                  <a:pt x="6275354" y="6877102"/>
                </a:lnTo>
                <a:lnTo>
                  <a:pt x="0" y="68771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474780" y="488839"/>
            <a:ext cx="8669220" cy="1562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202B3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Retrieval and Decryption</a:t>
            </a:r>
          </a:p>
          <a:p>
            <a:pPr algn="l">
              <a:lnSpc>
                <a:spcPts val="6299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352272" y="2200415"/>
            <a:ext cx="10090248" cy="66678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92"/>
              </a:lnSpc>
            </a:pP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Encrypted fil</a:t>
            </a: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es can be decrypted back to their original form.</a:t>
            </a:r>
          </a:p>
          <a:p>
            <a:pPr algn="l">
              <a:lnSpc>
                <a:spcPts val="8892"/>
              </a:lnSpc>
            </a:pP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Only users with the correct</a:t>
            </a: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k</a:t>
            </a: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ey can decr</a:t>
            </a: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ypt the files.</a:t>
            </a:r>
          </a:p>
          <a:p>
            <a:pPr algn="l">
              <a:lnSpc>
                <a:spcPts val="8892"/>
              </a:lnSpc>
            </a:pP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</a:t>
            </a:r>
            <a:r>
              <a:rPr lang="en-US" sz="36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afe and reliable retrieval process.</a:t>
            </a:r>
          </a:p>
          <a:p>
            <a:pPr algn="l">
              <a:lnSpc>
                <a:spcPts val="8892"/>
              </a:lnSpc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800000">
            <a:off x="10442520" y="0"/>
            <a:ext cx="7845480" cy="10287000"/>
            <a:chOff x="0" y="0"/>
            <a:chExt cx="2066299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66299" cy="2709333"/>
            </a:xfrm>
            <a:custGeom>
              <a:avLst/>
              <a:gdLst/>
              <a:ahLst/>
              <a:cxnLst/>
              <a:rect r="r" b="b" t="t" l="l"/>
              <a:pathLst>
                <a:path h="2709333" w="2066299">
                  <a:moveTo>
                    <a:pt x="0" y="0"/>
                  </a:moveTo>
                  <a:lnTo>
                    <a:pt x="2066299" y="0"/>
                  </a:lnTo>
                  <a:lnTo>
                    <a:pt x="2066299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202B3D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066299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5" id="5"/>
          <p:cNvSpPr/>
          <p:nvPr/>
        </p:nvSpPr>
        <p:spPr>
          <a:xfrm>
            <a:off x="45534" y="1673696"/>
            <a:ext cx="8761308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" id="6"/>
          <p:cNvSpPr txBox="true"/>
          <p:nvPr/>
        </p:nvSpPr>
        <p:spPr>
          <a:xfrm rot="0">
            <a:off x="474780" y="488839"/>
            <a:ext cx="8669220" cy="1562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202B3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Technologies Used</a:t>
            </a:r>
          </a:p>
          <a:p>
            <a:pPr algn="l">
              <a:lnSpc>
                <a:spcPts val="6299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0" y="1254596"/>
            <a:ext cx="10396986" cy="60083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54"/>
              </a:lnSpc>
            </a:pPr>
          </a:p>
          <a:p>
            <a:pPr algn="l" marL="755651" indent="-377825" lvl="1">
              <a:lnSpc>
                <a:spcPts val="7854"/>
              </a:lnSpc>
              <a:buFont typeface="Arial"/>
              <a:buChar char="•"/>
            </a:pP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Python</a:t>
            </a:r>
          </a:p>
          <a:p>
            <a:pPr algn="l" marL="755651" indent="-377825" lvl="1">
              <a:lnSpc>
                <a:spcPts val="7854"/>
              </a:lnSpc>
              <a:buFont typeface="Arial"/>
              <a:buChar char="•"/>
            </a:pP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Tkinter (GUI)</a:t>
            </a:r>
          </a:p>
          <a:p>
            <a:pPr algn="l" marL="755651" indent="-377825" lvl="1">
              <a:lnSpc>
                <a:spcPts val="7854"/>
              </a:lnSpc>
              <a:buFont typeface="Arial"/>
              <a:buChar char="•"/>
            </a:pP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Cryptography (AES</a:t>
            </a: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)</a:t>
            </a:r>
          </a:p>
          <a:p>
            <a:pPr algn="l" marL="755651" indent="-377825" lvl="1">
              <a:lnSpc>
                <a:spcPts val="7854"/>
              </a:lnSpc>
              <a:buFont typeface="Arial"/>
              <a:buChar char="•"/>
            </a:pPr>
            <a:r>
              <a:rPr lang="en-US" sz="3500">
                <a:solidFill>
                  <a:srgbClr val="54545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hashlib (Password Hashing with SHA-256)</a:t>
            </a:r>
          </a:p>
          <a:p>
            <a:pPr algn="l">
              <a:lnSpc>
                <a:spcPts val="8975"/>
              </a:lnSpc>
            </a:pP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5897880" y="6486624"/>
            <a:ext cx="6492240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4344642" y="3208000"/>
            <a:ext cx="9598716" cy="2581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0"/>
              </a:lnSpc>
            </a:pPr>
            <a:r>
              <a:rPr lang="en-US" sz="15000">
                <a:solidFill>
                  <a:srgbClr val="202B3D"/>
                </a:solidFill>
                <a:latin typeface="Ovo"/>
                <a:ea typeface="Ovo"/>
                <a:cs typeface="Ovo"/>
                <a:sym typeface="Ovo"/>
              </a:rPr>
              <a:t>Thank you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DAGlkYY52PE</dc:identifier>
  <dcterms:modified xsi:type="dcterms:W3CDTF">2011-08-01T06:04:30Z</dcterms:modified>
  <cp:revision>1</cp:revision>
  <dc:title>Secure File Storage Using AES Encryption</dc:title>
</cp:coreProperties>
</file>